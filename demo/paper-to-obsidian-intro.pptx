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4" r:id="rId7"/>
    <p:sldId id="260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6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75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147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162CB-1958-C2F7-C59D-79D47C579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2C61C-3E45-376F-2488-4B5A81C0C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F49DC-04D7-DADC-CDC7-BD9E5B5A6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FE68F-3332-9165-B2F9-2DA00797D5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751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C4060-697C-D56A-D301-F587E8FFE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5C864B-5585-3627-E1F6-BCA8CD10B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7D83EE-4E77-B57B-DFAB-687B723BA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8674A-49BE-066F-66B8-F99E79DCB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662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7C5CB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4099" y="2603599"/>
            <a:ext cx="1777901" cy="1777901"/>
          </a:xfrm>
          <a:prstGeom prst="roundRect">
            <a:avLst>
              <a:gd name="adj" fmla="val 51431"/>
            </a:avLst>
          </a:prstGeom>
          <a:solidFill>
            <a:srgbClr val="7C5CB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47099" y="3746599"/>
            <a:ext cx="1015901" cy="1015901"/>
          </a:xfrm>
          <a:prstGeom prst="roundRect">
            <a:avLst>
              <a:gd name="adj" fmla="val 90009"/>
            </a:avLst>
          </a:prstGeom>
          <a:solidFill>
            <a:srgbClr val="9B6F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46263" y="1327249"/>
            <a:ext cx="6651474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5200" b="1" dirty="0">
                <a:solidFill>
                  <a:srgbClr val="9B6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paper-to-obsidian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246263" y="2289274"/>
            <a:ext cx="665147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B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논문을 읽고, AI가 요약하고, 옵시디언에 자동 저장하는 Claude 스킬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46263" y="2946499"/>
            <a:ext cx="66514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0"/>
              </a:spcBef>
              <a:spcAft>
                <a:spcPts val="1400"/>
              </a:spcAft>
              <a:buNone/>
            </a:pPr>
            <a:r>
              <a:rPr lang="en-US" sz="1400" b="1">
                <a:solidFill>
                  <a:srgbClr val="48B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r>
              <a:rPr lang="en-US" sz="1400">
                <a:solidFill>
                  <a:srgbClr val="B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400" dirty="0">
                <a:solidFill>
                  <a:srgbClr val="B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</a:t>
            </a:r>
            <a:r>
              <a:rPr lang="en-US" sz="1400" dirty="0">
                <a:solidFill>
                  <a:srgbClr val="B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</a:t>
            </a:r>
            <a:r>
              <a:rPr lang="en-US" sz="1400" b="1" dirty="0">
                <a:solidFill>
                  <a:srgbClr val="9B6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66281" y="3638550"/>
            <a:ext cx="3411438" cy="558701"/>
          </a:xfrm>
          <a:prstGeom prst="roundRect">
            <a:avLst>
              <a:gd name="adj" fmla="val 36370"/>
            </a:avLst>
          </a:prstGeom>
          <a:solidFill>
            <a:srgbClr val="2D22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32166" y="3803600"/>
            <a:ext cx="3479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300"/>
              </a:spcBef>
              <a:spcAft>
                <a:spcPts val="1300"/>
              </a:spcAft>
              <a:buNone/>
            </a:pPr>
            <a:r>
              <a:rPr lang="ko-KR" altLang="en-US" sz="1300">
                <a:solidFill>
                  <a:srgbClr val="9B6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이화은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4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76213"/>
            <a:ext cx="297628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스킬이 필요한가?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547688"/>
            <a:ext cx="29762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B6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연구자가 논문 관리에 겪는 3가지 문제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600" y="1269950"/>
            <a:ext cx="2472333" cy="3517999"/>
          </a:xfrm>
          <a:prstGeom prst="roundRect">
            <a:avLst>
              <a:gd name="adj" fmla="val 5137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1293763"/>
            <a:ext cx="2472333" cy="0"/>
          </a:xfrm>
          <a:prstGeom prst="line">
            <a:avLst/>
          </a:prstGeom>
          <a:noFill/>
          <a:ln w="47625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38200" y="1596926"/>
            <a:ext cx="205543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38200" y="2057251"/>
            <a:ext cx="205543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읽는 데 시간이 너무 많이 든다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8200" y="2635002"/>
            <a:ext cx="20554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A5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한 편을 처음부터 끝까지 읽고 핵심을 파악하는 데 평균 1~2시간 소요. 리뷰 논문은 30페이지를 넘기도 한다.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5834" y="1269950"/>
            <a:ext cx="2472333" cy="3517999"/>
          </a:xfrm>
          <a:prstGeom prst="roundRect">
            <a:avLst>
              <a:gd name="adj" fmla="val 5137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35834" y="1293763"/>
            <a:ext cx="2472333" cy="0"/>
          </a:xfrm>
          <a:prstGeom prst="line">
            <a:avLst/>
          </a:prstGeom>
          <a:noFill/>
          <a:ln w="47625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564434" y="1596926"/>
            <a:ext cx="205543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4434" y="2057251"/>
            <a:ext cx="20554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나중에 찾을 수가 없다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4434" y="2396877"/>
            <a:ext cx="205543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A5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읽고 나서 노트를 안 남기면 결국 잊어버린다. 서론 쓸 때 인용할 문장을 다시 찾아야 한다.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62067" y="1269950"/>
            <a:ext cx="2472333" cy="3517999"/>
          </a:xfrm>
          <a:prstGeom prst="roundRect">
            <a:avLst>
              <a:gd name="adj" fmla="val 5137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62067" y="1293763"/>
            <a:ext cx="2472333" cy="0"/>
          </a:xfrm>
          <a:prstGeom prst="line">
            <a:avLst/>
          </a:prstGeom>
          <a:noFill/>
          <a:ln w="47625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290667" y="1596926"/>
            <a:ext cx="205543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90667" y="2057251"/>
            <a:ext cx="20554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정리 형식이 매번 다르다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90667" y="2396877"/>
            <a:ext cx="205543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A5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논문마다 노트 형식이 달라서 나중에 비교하거나 검색하기 어렵다. 일관된 구조가 없다.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550"/>
            <a:ext cx="808329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동작하나요?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09600" y="777776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 한 마디로 전체 워크플로우가 실행됩니다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30375" y="1941612"/>
            <a:ext cx="952500" cy="952500"/>
          </a:xfrm>
          <a:prstGeom prst="roundRect">
            <a:avLst>
              <a:gd name="adj" fmla="val 21333"/>
            </a:avLst>
          </a:prstGeom>
          <a:solidFill>
            <a:srgbClr val="1D4E49"/>
          </a:solidFill>
          <a:ln w="19050">
            <a:solidFill>
              <a:srgbClr val="48B5A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05719" y="2232124"/>
            <a:ext cx="20569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600"/>
              </a:spcBef>
              <a:spcAft>
                <a:spcPts val="2600"/>
              </a:spcAft>
              <a:buNone/>
            </a:pPr>
            <a:r>
              <a:rPr lang="en-US" sz="2600" b="1">
                <a:solidFill>
                  <a:srgbClr val="48B5A8"/>
                </a:solidFill>
                <a:latin typeface="Arial" pitchFamily="34" charset="0"/>
                <a:cs typeface="Arial" pitchFamily="34" charset="-120"/>
              </a:rPr>
              <a:t>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4381" y="3021062"/>
            <a:ext cx="60448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b="1">
                <a:solidFill>
                  <a:srgbClr val="48B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9895" y="3290888"/>
            <a:ext cx="181345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>
                <a:solidFill>
                  <a:srgbClr val="8A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</a:t>
            </a:r>
            <a:r>
              <a:rPr lang="en-US" sz="1000" dirty="0">
                <a:solidFill>
                  <a:srgbClr val="8A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불러오기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22525" y="2365325"/>
            <a:ext cx="76433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4A4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15032" y="2968526"/>
            <a:ext cx="7643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경로 전달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1526" y="1922562"/>
            <a:ext cx="952500" cy="952500"/>
          </a:xfrm>
          <a:prstGeom prst="roundRect">
            <a:avLst>
              <a:gd name="adj" fmla="val 21333"/>
            </a:avLst>
          </a:prstGeom>
          <a:solidFill>
            <a:srgbClr val="4A351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22577" y="2213074"/>
            <a:ext cx="33685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600"/>
              </a:spcBef>
              <a:spcAft>
                <a:spcPts val="2600"/>
              </a:spcAft>
              <a:buNone/>
            </a:pPr>
            <a:r>
              <a:rPr lang="en-US" sz="2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042493" y="3002012"/>
            <a:ext cx="10905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요약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81046" y="3309938"/>
            <a:ext cx="181345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8A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전체를 읽고 3가지 핵심 항목 추출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03677" y="2365325"/>
            <a:ext cx="73200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4A4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96500" y="2968526"/>
            <a:ext cx="7320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마크다운 저장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60977" y="1941612"/>
            <a:ext cx="952500" cy="952500"/>
          </a:xfrm>
          <a:prstGeom prst="roundRect">
            <a:avLst>
              <a:gd name="adj" fmla="val 21333"/>
            </a:avLst>
          </a:prstGeom>
          <a:solidFill>
            <a:srgbClr val="2D1F5E"/>
          </a:solidFill>
          <a:ln w="19050">
            <a:solidFill>
              <a:srgbClr val="9B6F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208788" y="2232124"/>
            <a:ext cx="26201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600"/>
              </a:spcBef>
              <a:spcAft>
                <a:spcPts val="2600"/>
              </a:spcAft>
              <a:buNone/>
            </a:pPr>
            <a:r>
              <a:rPr lang="en-US" sz="2600" b="1" dirty="0">
                <a:solidFill>
                  <a:srgbClr val="9B6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21435" y="3021062"/>
            <a:ext cx="83143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9B6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30497" y="3290888"/>
            <a:ext cx="181345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8A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제목(연도).md로 볼트에 자동 저장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2000" y="4610249"/>
            <a:ext cx="7620000" cy="12650"/>
          </a:xfrm>
          <a:prstGeom prst="rect">
            <a:avLst/>
          </a:prstGeom>
          <a:solidFill>
            <a:srgbClr val="2D22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0352" y="4749850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100" dirty="0">
                <a:solidFill>
                  <a:srgbClr val="9B6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논문 요약해서 옵시디언에 저장해줘</a:t>
            </a:r>
            <a:r>
              <a:rPr lang="en-US" sz="1100" dirty="0">
                <a:solidFill>
                  <a:srgbClr val="5A5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— 이 한 </a:t>
            </a:r>
            <a:r>
              <a:rPr lang="en-US" sz="1100">
                <a:solidFill>
                  <a:srgbClr val="5A5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마디로 </a:t>
            </a:r>
            <a:r>
              <a:rPr lang="ko-KR" altLang="en-US" sz="1100">
                <a:solidFill>
                  <a:srgbClr val="5A5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원하는 양식에 맞춰 요약본 생성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403550" cy="5143500"/>
          </a:xfrm>
          <a:prstGeom prst="rect">
            <a:avLst/>
          </a:prstGeom>
          <a:solidFill>
            <a:srgbClr val="1A14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406301"/>
            <a:ext cx="28498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 노트 구조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04800" y="850702"/>
            <a:ext cx="28498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 논문 동일한 3섹션 형식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04800" y="2370237"/>
            <a:ext cx="2793950" cy="0"/>
          </a:xfrm>
          <a:prstGeom prst="line">
            <a:avLst/>
          </a:prstGeom>
          <a:noFill/>
          <a:ln w="9525">
            <a:solidFill>
              <a:srgbClr val="2D22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04800" y="1841748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9B6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4800" y="2009924"/>
            <a:ext cx="2849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연구 문제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4800" y="3030438"/>
            <a:ext cx="2793950" cy="0"/>
          </a:xfrm>
          <a:prstGeom prst="line">
            <a:avLst/>
          </a:prstGeom>
          <a:noFill/>
          <a:ln w="9525">
            <a:solidFill>
              <a:srgbClr val="2D22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04800" y="2501950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9B6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800" y="2670125"/>
            <a:ext cx="2849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구체적 방법론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4800" y="3162151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9B6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1000" dirty="0">
              <a:solidFill>
                <a:srgbClr val="9B6FF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4800" y="3330327"/>
            <a:ext cx="2849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인용 핵심 문장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4800" y="4359473"/>
            <a:ext cx="28498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위치: Obsidian Vault 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4800" y="4556224"/>
            <a:ext cx="28498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논문제목(연도).md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59101" y="406301"/>
            <a:ext cx="5029349" cy="1369963"/>
          </a:xfrm>
          <a:prstGeom prst="roundRect">
            <a:avLst>
              <a:gd name="adj" fmla="val 7416"/>
            </a:avLst>
          </a:prstGeom>
          <a:solidFill>
            <a:srgbClr val="FFFFFF"/>
          </a:solidFill>
          <a:ln/>
          <a:effectLst>
            <a:outerShdw blurRad="38100" dist="9525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787676" y="406301"/>
            <a:ext cx="0" cy="1369963"/>
          </a:xfrm>
          <a:prstGeom prst="line">
            <a:avLst/>
          </a:prstGeom>
          <a:noFill/>
          <a:ln w="5715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044851" y="584002"/>
            <a:ext cx="1440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63789" y="584002"/>
            <a:ext cx="42799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해결하고자 한 핵심 문제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63789" y="863352"/>
            <a:ext cx="427998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5A5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연구의 구체적 한계를 명시하고, 본 논문이 그 한계를 어떻게 해결하려는지 bullet으로 정리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63789" y="1274713"/>
            <a:ext cx="42799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50" i="1" dirty="0">
                <a:solidFill>
                  <a:srgbClr val="9B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"기하 기반 탐지의 한계 → 작업 수준 활동 구분 불가 / 외관 기반 추론의 한계 → 이미지 없는 점군에 미적용"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759101" y="1953964"/>
            <a:ext cx="5029349" cy="1369963"/>
          </a:xfrm>
          <a:prstGeom prst="roundRect">
            <a:avLst>
              <a:gd name="adj" fmla="val 7416"/>
            </a:avLst>
          </a:prstGeom>
          <a:solidFill>
            <a:srgbClr val="FFFFFF"/>
          </a:solidFill>
          <a:ln/>
          <a:effectLst>
            <a:outerShdw blurRad="38100" dist="9525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787676" y="1953964"/>
            <a:ext cx="0" cy="1369963"/>
          </a:xfrm>
          <a:prstGeom prst="line">
            <a:avLst/>
          </a:prstGeom>
          <a:noFill/>
          <a:ln w="57150">
            <a:solidFill>
              <a:srgbClr val="48B5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044851" y="2131665"/>
            <a:ext cx="1440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8B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363789" y="2131665"/>
            <a:ext cx="42799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사용한 구체적 방법론 (툴 / 알고리즘)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63789" y="2411016"/>
            <a:ext cx="427998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5A5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모델명·알고리즘·데이터셋 영어 유지, 설명은 한국어. 핵심 성능 수치 반드시 포함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63789" y="2822377"/>
            <a:ext cx="42799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50" i="1" dirty="0">
                <a:solidFill>
                  <a:srgbClr val="9B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"SfM, CNN(Mask R-CNN), BIM 레지스트레이션(ICP). 탐지 90%+, ~30초 처리"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759101" y="3501628"/>
            <a:ext cx="5029349" cy="1235571"/>
          </a:xfrm>
          <a:prstGeom prst="roundRect">
            <a:avLst>
              <a:gd name="adj" fmla="val 8223"/>
            </a:avLst>
          </a:prstGeom>
          <a:solidFill>
            <a:srgbClr val="FFFFFF"/>
          </a:solidFill>
          <a:ln/>
          <a:effectLst>
            <a:outerShdw blurRad="38100" dist="9525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787676" y="3501628"/>
            <a:ext cx="0" cy="1235571"/>
          </a:xfrm>
          <a:prstGeom prst="line">
            <a:avLst/>
          </a:prstGeom>
          <a:noFill/>
          <a:ln w="571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044851" y="3679329"/>
            <a:ext cx="1440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363789" y="3679329"/>
            <a:ext cx="42799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서론에 인용하기 좋은 핵심 문장 한 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63789" y="3958679"/>
            <a:ext cx="427998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5A5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제3자 시점, 학술 문체, 한국어. 인용 자리 [ ] 포함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363789" y="4183410"/>
            <a:ext cx="42799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50" i="1" dirty="0">
                <a:solidFill>
                  <a:srgbClr val="9B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"CV 기반 시공 진척도 모니터링은 DAQ, 정보 추출, 진척도 추정, 시각화의 네 서브프로세스로 구성되며[ ]..."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19211-2B0B-824C-866F-7CC60FE9E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F9992E-6177-ED9C-068D-2906F91D711F}"/>
              </a:ext>
            </a:extLst>
          </p:cNvPr>
          <p:cNvSpPr/>
          <p:nvPr/>
        </p:nvSpPr>
        <p:spPr>
          <a:xfrm>
            <a:off x="0" y="0"/>
            <a:ext cx="9144000" cy="1231850"/>
          </a:xfrm>
          <a:prstGeom prst="rect">
            <a:avLst/>
          </a:prstGeom>
          <a:solidFill>
            <a:srgbClr val="1A14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3380B1-ED60-2511-6663-2B63DAD62A54}"/>
              </a:ext>
            </a:extLst>
          </p:cNvPr>
          <p:cNvSpPr/>
          <p:nvPr/>
        </p:nvSpPr>
        <p:spPr>
          <a:xfrm>
            <a:off x="609600" y="304800"/>
            <a:ext cx="808329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사용하나요?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EC9BCD-4FED-EAC0-A20C-B09006AD4EE7}"/>
              </a:ext>
            </a:extLst>
          </p:cNvPr>
          <p:cNvSpPr/>
          <p:nvPr/>
        </p:nvSpPr>
        <p:spPr>
          <a:xfrm>
            <a:off x="609600" y="72702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PDF 경로를 알려주고 한 마디면 충분합니다</a:t>
            </a:r>
            <a:endParaRPr lang="en-US" sz="1200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9201908-DAFF-9D0A-3FEA-A93DBAAAF801}"/>
              </a:ext>
            </a:extLst>
          </p:cNvPr>
          <p:cNvGrpSpPr/>
          <p:nvPr/>
        </p:nvGrpSpPr>
        <p:grpSpPr>
          <a:xfrm>
            <a:off x="609600" y="1536650"/>
            <a:ext cx="4572000" cy="1401373"/>
            <a:chOff x="609600" y="1536650"/>
            <a:chExt cx="4572000" cy="1785499"/>
          </a:xfrm>
        </p:grpSpPr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2AB788F7-A3A5-4643-A5E3-330165E38636}"/>
                </a:ext>
              </a:extLst>
            </p:cNvPr>
            <p:cNvSpPr/>
            <p:nvPr/>
          </p:nvSpPr>
          <p:spPr>
            <a:xfrm>
              <a:off x="609600" y="1536650"/>
              <a:ext cx="4572000" cy="1785499"/>
            </a:xfrm>
            <a:prstGeom prst="roundRect">
              <a:avLst>
                <a:gd name="adj" fmla="val 4409"/>
              </a:avLst>
            </a:prstGeom>
            <a:solidFill>
              <a:srgbClr val="1A142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BDDFDEC6-47D9-1854-7C1A-77883DDC812E}"/>
                </a:ext>
              </a:extLst>
            </p:cNvPr>
            <p:cNvSpPr/>
            <p:nvPr/>
          </p:nvSpPr>
          <p:spPr>
            <a:xfrm>
              <a:off x="633412" y="1536650"/>
              <a:ext cx="0" cy="1785499"/>
            </a:xfrm>
            <a:prstGeom prst="line">
              <a:avLst/>
            </a:prstGeom>
            <a:noFill/>
            <a:ln w="47625">
              <a:solidFill>
                <a:srgbClr val="9B6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" name="Text 5">
            <a:extLst>
              <a:ext uri="{FF2B5EF4-FFF2-40B4-BE49-F238E27FC236}">
                <a16:creationId xmlns:a16="http://schemas.microsoft.com/office/drawing/2014/main" id="{41E265D6-DB55-0E36-3C01-3180848F5116}"/>
              </a:ext>
            </a:extLst>
          </p:cNvPr>
          <p:cNvSpPr/>
          <p:nvPr/>
        </p:nvSpPr>
        <p:spPr>
          <a:xfrm>
            <a:off x="885825" y="1714351"/>
            <a:ext cx="41485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>
                <a:solidFill>
                  <a:srgbClr val="7C5CBF"/>
                </a:solidFill>
                <a:latin typeface="Arial" pitchFamily="34" charset="0"/>
                <a:cs typeface="Arial" pitchFamily="34" charset="-120"/>
              </a:rPr>
              <a:t>Skill </a:t>
            </a:r>
            <a:r>
              <a:rPr lang="ko-KR" altLang="en-US" sz="900">
                <a:solidFill>
                  <a:srgbClr val="7C5CBF"/>
                </a:solidFill>
                <a:latin typeface="Arial" pitchFamily="34" charset="0"/>
                <a:cs typeface="Arial" pitchFamily="34" charset="-120"/>
              </a:rPr>
              <a:t>구조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3A505DF-37AC-4F1E-AA82-4B89A2C98D28}"/>
              </a:ext>
            </a:extLst>
          </p:cNvPr>
          <p:cNvSpPr/>
          <p:nvPr/>
        </p:nvSpPr>
        <p:spPr>
          <a:xfrm>
            <a:off x="885825" y="1917502"/>
            <a:ext cx="4148519" cy="1455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3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paper-to-obsidian/</a:t>
            </a:r>
          </a:p>
          <a:p>
            <a:pPr marL="0" indent="0" algn="l">
              <a:buNone/>
            </a:pPr>
            <a:r>
              <a:rPr lang="en-US" sz="13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SKILL.md        ← </a:t>
            </a:r>
            <a:r>
              <a:rPr lang="ko-KR" altLang="en-US" sz="13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스킬 설명 </a:t>
            </a:r>
            <a:r>
              <a:rPr lang="en-US" altLang="ko-KR" sz="13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</a:t>
            </a:r>
            <a:r>
              <a:rPr lang="ko-KR" altLang="en-US" sz="13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워크플로우</a:t>
            </a:r>
          </a:p>
          <a:p>
            <a:pPr marL="0" indent="0" algn="l">
              <a:buNone/>
            </a:pPr>
            <a:r>
              <a:rPr lang="ko-KR" altLang="en-US" sz="13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</a:t>
            </a:r>
            <a:r>
              <a:rPr lang="en-US" sz="13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</a:t>
            </a:r>
          </a:p>
          <a:p>
            <a:pPr marL="0" indent="0" algn="l">
              <a:buNone/>
            </a:pPr>
            <a:r>
              <a:rPr lang="en-US" sz="13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note-template.md  ← </a:t>
            </a:r>
            <a:r>
              <a:rPr lang="ko-KR" altLang="en-US" sz="13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기존 노트 형식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782C6BC-5CEA-C385-071D-531EC1186059}"/>
              </a:ext>
            </a:extLst>
          </p:cNvPr>
          <p:cNvSpPr/>
          <p:nvPr/>
        </p:nvSpPr>
        <p:spPr>
          <a:xfrm>
            <a:off x="609600" y="3007742"/>
            <a:ext cx="4572000" cy="1812577"/>
          </a:xfrm>
          <a:prstGeom prst="roundRect">
            <a:avLst>
              <a:gd name="adj" fmla="val 5247"/>
            </a:avLst>
          </a:prstGeom>
          <a:solidFill>
            <a:srgbClr val="1A14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7FFE2E1-FD49-8B2F-67C1-BB05219689DD}"/>
              </a:ext>
            </a:extLst>
          </p:cNvPr>
          <p:cNvSpPr/>
          <p:nvPr/>
        </p:nvSpPr>
        <p:spPr>
          <a:xfrm>
            <a:off x="633412" y="2988774"/>
            <a:ext cx="0" cy="1812577"/>
          </a:xfrm>
          <a:prstGeom prst="line">
            <a:avLst/>
          </a:prstGeom>
          <a:noFill/>
          <a:ln w="47625">
            <a:solidFill>
              <a:srgbClr val="48B5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FB6506B-C9BE-62FC-CE52-EE63BA5886F8}"/>
              </a:ext>
            </a:extLst>
          </p:cNvPr>
          <p:cNvSpPr/>
          <p:nvPr/>
        </p:nvSpPr>
        <p:spPr>
          <a:xfrm>
            <a:off x="885824" y="3090423"/>
            <a:ext cx="41485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900">
                <a:solidFill>
                  <a:srgbClr val="48B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방법</a:t>
            </a: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09CAE06-E0EB-32C7-3259-36B1A136E14F}"/>
              </a:ext>
            </a:extLst>
          </p:cNvPr>
          <p:cNvSpPr/>
          <p:nvPr/>
        </p:nvSpPr>
        <p:spPr>
          <a:xfrm>
            <a:off x="885823" y="3115724"/>
            <a:ext cx="41485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endParaRPr lang="en-US" altLang="ko-KR" sz="1100">
              <a:solidFill>
                <a:srgbClr val="9B6F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altLang="ko-KR" sz="1100">
              <a:solidFill>
                <a:srgbClr val="9B6F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altLang="ko-KR" sz="110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ko-KR" altLang="en-US" sz="110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 논문 요약해서 옵시디언에 저장해줘</a:t>
            </a:r>
            <a:r>
              <a:rPr lang="en-US" altLang="ko-KR" sz="110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→ </a:t>
            </a:r>
            <a:r>
              <a:rPr lang="ko-KR" altLang="en-US" sz="110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스킬이 자동으로 트리거됨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altLang="ko-KR" sz="110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 </a:t>
            </a:r>
            <a:r>
              <a:rPr lang="ko-KR" altLang="en-US" sz="110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경로나 논문 제목을 같이 알려주면 바로 처리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10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저장 위치</a:t>
            </a:r>
            <a:r>
              <a:rPr lang="en-US" altLang="ko-KR" sz="110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C:\Users\lihwa\Documents\Obsidian Vault\[</a:t>
            </a:r>
            <a:r>
              <a:rPr lang="ko-KR" altLang="en-US" sz="110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논문제목</a:t>
            </a:r>
            <a:r>
              <a:rPr lang="en-US" altLang="ko-KR" sz="110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](</a:t>
            </a:r>
            <a:r>
              <a:rPr lang="ko-KR" altLang="en-US" sz="110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연도</a:t>
            </a:r>
            <a:r>
              <a:rPr lang="en-US" altLang="ko-KR" sz="110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).md</a:t>
            </a:r>
          </a:p>
          <a:p>
            <a:pPr marL="0" indent="0" algn="l">
              <a:spcBef>
                <a:spcPts val="400"/>
              </a:spcBef>
              <a:buNone/>
            </a:pPr>
            <a:endParaRPr lang="en-US" altLang="ko-KR" sz="1100">
              <a:solidFill>
                <a:srgbClr val="9B6F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FFFFEC5-7E1D-CFD3-21AB-4180BC1EA080}"/>
              </a:ext>
            </a:extLst>
          </p:cNvPr>
          <p:cNvGrpSpPr/>
          <p:nvPr/>
        </p:nvGrpSpPr>
        <p:grpSpPr>
          <a:xfrm>
            <a:off x="5486400" y="1536650"/>
            <a:ext cx="3048000" cy="1555254"/>
            <a:chOff x="5486400" y="1536650"/>
            <a:chExt cx="3048000" cy="1555254"/>
          </a:xfrm>
        </p:grpSpPr>
        <p:sp>
          <p:nvSpPr>
            <p:cNvPr id="34" name="Text 16">
              <a:extLst>
                <a:ext uri="{FF2B5EF4-FFF2-40B4-BE49-F238E27FC236}">
                  <a16:creationId xmlns:a16="http://schemas.microsoft.com/office/drawing/2014/main" id="{8385EC7C-A591-7BFD-718B-FC6E99A233B2}"/>
                </a:ext>
              </a:extLst>
            </p:cNvPr>
            <p:cNvSpPr/>
            <p:nvPr/>
          </p:nvSpPr>
          <p:spPr>
            <a:xfrm>
              <a:off x="5486400" y="1536650"/>
              <a:ext cx="3048000" cy="1555254"/>
            </a:xfrm>
            <a:prstGeom prst="roundRect">
              <a:avLst>
                <a:gd name="adj" fmla="val 6533"/>
              </a:avLst>
            </a:prstGeom>
            <a:solidFill>
              <a:srgbClr val="EDE8FF"/>
            </a:solidFill>
            <a:ln w="9525">
              <a:solidFill>
                <a:srgbClr val="C4B5F4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5" name="Text 17">
              <a:extLst>
                <a:ext uri="{FF2B5EF4-FFF2-40B4-BE49-F238E27FC236}">
                  <a16:creationId xmlns:a16="http://schemas.microsoft.com/office/drawing/2014/main" id="{FD19E5D6-FAA4-8E38-5755-E4422BABC6CA}"/>
                </a:ext>
              </a:extLst>
            </p:cNvPr>
            <p:cNvSpPr/>
            <p:nvPr/>
          </p:nvSpPr>
          <p:spPr>
            <a:xfrm>
              <a:off x="5699075" y="1723876"/>
              <a:ext cx="2675102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800"/>
                </a:spcAft>
                <a:buNone/>
              </a:pPr>
              <a:r>
                <a:rPr lang="en-US" sz="1100" b="1" dirty="0">
                  <a:solidFill>
                    <a:srgbClr val="7C5CB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트리거 키워드</a:t>
              </a:r>
              <a:endParaRPr lang="en-US" sz="1100" dirty="0"/>
            </a:p>
          </p:txBody>
        </p:sp>
        <p:sp>
          <p:nvSpPr>
            <p:cNvPr id="36" name="Text 18">
              <a:extLst>
                <a:ext uri="{FF2B5EF4-FFF2-40B4-BE49-F238E27FC236}">
                  <a16:creationId xmlns:a16="http://schemas.microsoft.com/office/drawing/2014/main" id="{CEF3DA70-509C-62B0-DF49-FE980B86FC7F}"/>
                </a:ext>
              </a:extLst>
            </p:cNvPr>
            <p:cNvSpPr/>
            <p:nvPr/>
          </p:nvSpPr>
          <p:spPr>
            <a:xfrm>
              <a:off x="5699075" y="2015877"/>
              <a:ext cx="2622649" cy="838051"/>
            </a:xfrm>
            <a:prstGeom prst="rect">
              <a:avLst/>
            </a:prstGeom>
            <a:noFill/>
            <a:ln/>
          </p:spPr>
          <p:txBody>
            <a:bodyPr wrap="square" lIns="88900" tIns="0" rIns="0" bIns="0" rtlCol="0" anchor="t"/>
            <a:lstStyle/>
            <a:p>
              <a:pPr algn="l">
                <a:spcAft>
                  <a:spcPts val="400"/>
                </a:spcAft>
                <a:buSzPct val="100000"/>
              </a:pPr>
              <a:r>
                <a:rPr lang="ko-KR" altLang="en-US" sz="1000">
                  <a:solidFill>
                    <a:srgbClr val="4A3B7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요약 항목</a:t>
              </a:r>
              <a:r>
                <a:rPr lang="en-US" altLang="ko-KR" sz="1000">
                  <a:solidFill>
                    <a:srgbClr val="4A3B7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:</a:t>
              </a:r>
            </a:p>
            <a:p>
              <a:pPr marL="88900" indent="-88900" algn="l">
                <a:spcAft>
                  <a:spcPts val="400"/>
                </a:spcAft>
                <a:buSzPct val="100000"/>
                <a:buChar char="•"/>
              </a:pPr>
              <a:endParaRPr lang="en-US" altLang="ko-KR" sz="1000">
                <a:solidFill>
                  <a:srgbClr val="4A3B7A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88900" indent="-88900" algn="l">
                <a:spcAft>
                  <a:spcPts val="400"/>
                </a:spcAft>
                <a:buSzPct val="100000"/>
                <a:buChar char="•"/>
              </a:pPr>
              <a:r>
                <a:rPr lang="ko-KR" altLang="en-US" sz="1000">
                  <a:solidFill>
                    <a:srgbClr val="4A3B7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해결하고자 한 핵심 문제</a:t>
              </a:r>
            </a:p>
            <a:p>
              <a:pPr marL="88900" indent="-88900" algn="l">
                <a:spcAft>
                  <a:spcPts val="400"/>
                </a:spcAft>
                <a:buSzPct val="100000"/>
                <a:buChar char="•"/>
              </a:pPr>
              <a:r>
                <a:rPr lang="ko-KR" altLang="en-US" sz="1000">
                  <a:solidFill>
                    <a:srgbClr val="4A3B7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사용한 구체적 방법론 </a:t>
              </a:r>
              <a:r>
                <a:rPr lang="en-US" altLang="ko-KR" sz="1000">
                  <a:solidFill>
                    <a:srgbClr val="4A3B7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</a:t>
              </a:r>
              <a:r>
                <a:rPr lang="ko-KR" altLang="en-US" sz="1000">
                  <a:solidFill>
                    <a:srgbClr val="4A3B7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툴</a:t>
              </a:r>
              <a:r>
                <a:rPr lang="en-US" altLang="ko-KR" sz="1000">
                  <a:solidFill>
                    <a:srgbClr val="4A3B7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</a:t>
              </a:r>
              <a:r>
                <a:rPr lang="ko-KR" altLang="en-US" sz="1000">
                  <a:solidFill>
                    <a:srgbClr val="4A3B7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알고리즘</a:t>
              </a:r>
              <a:r>
                <a:rPr lang="en-US" altLang="ko-KR" sz="1000">
                  <a:solidFill>
                    <a:srgbClr val="4A3B7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</a:p>
            <a:p>
              <a:pPr marL="88900" indent="-88900" algn="l">
                <a:spcAft>
                  <a:spcPts val="400"/>
                </a:spcAft>
                <a:buSzPct val="100000"/>
                <a:buChar char="•"/>
              </a:pPr>
              <a:r>
                <a:rPr lang="ko-KR" altLang="en-US" sz="1000">
                  <a:solidFill>
                    <a:srgbClr val="4A3B7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서론에 인용하기 좋은 핵심 문장 한 줄</a:t>
              </a:r>
              <a:endParaRPr lang="en-US" sz="1000" dirty="0"/>
            </a:p>
          </p:txBody>
        </p:sp>
      </p:grpSp>
      <p:sp>
        <p:nvSpPr>
          <p:cNvPr id="37" name="Text 19">
            <a:extLst>
              <a:ext uri="{FF2B5EF4-FFF2-40B4-BE49-F238E27FC236}">
                <a16:creationId xmlns:a16="http://schemas.microsoft.com/office/drawing/2014/main" id="{CD5BAA3A-6827-7E92-4F57-99361E29F207}"/>
              </a:ext>
            </a:extLst>
          </p:cNvPr>
          <p:cNvSpPr/>
          <p:nvPr/>
        </p:nvSpPr>
        <p:spPr>
          <a:xfrm>
            <a:off x="5486400" y="3244304"/>
            <a:ext cx="3048000" cy="1594396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/>
          <a:effectLst>
            <a:outerShdw blurRad="38100" dist="9525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0BB2DD2D-9076-22B2-5528-5795ED1D23A4}"/>
              </a:ext>
            </a:extLst>
          </p:cNvPr>
          <p:cNvSpPr/>
          <p:nvPr/>
        </p:nvSpPr>
        <p:spPr>
          <a:xfrm>
            <a:off x="5689550" y="3422005"/>
            <a:ext cx="26945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1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환경</a:t>
            </a:r>
            <a:endParaRPr lang="en-US" sz="1100" dirty="0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4724F98C-1761-0D37-67DA-BF3BD321D894}"/>
              </a:ext>
            </a:extLst>
          </p:cNvPr>
          <p:cNvSpPr/>
          <p:nvPr/>
        </p:nvSpPr>
        <p:spPr>
          <a:xfrm>
            <a:off x="5689550" y="3714006"/>
            <a:ext cx="993577" cy="238125"/>
          </a:xfrm>
          <a:prstGeom prst="roundRect">
            <a:avLst>
              <a:gd name="adj" fmla="val 5333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267EFCF0-1EF4-0B74-CD9F-CBECAA4B2D37}"/>
              </a:ext>
            </a:extLst>
          </p:cNvPr>
          <p:cNvSpPr/>
          <p:nvPr/>
        </p:nvSpPr>
        <p:spPr>
          <a:xfrm>
            <a:off x="5791051" y="3752106"/>
            <a:ext cx="8063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직접 경로</a:t>
            </a:r>
            <a:endParaRPr lang="en-US" sz="95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5005E59-F166-CDF8-268D-26A503D3D335}"/>
              </a:ext>
            </a:extLst>
          </p:cNvPr>
          <p:cNvGrpSpPr/>
          <p:nvPr/>
        </p:nvGrpSpPr>
        <p:grpSpPr>
          <a:xfrm>
            <a:off x="6963038" y="3724525"/>
            <a:ext cx="993577" cy="238125"/>
            <a:chOff x="5689550" y="4104382"/>
            <a:chExt cx="993577" cy="238125"/>
          </a:xfrm>
        </p:grpSpPr>
        <p:sp>
          <p:nvSpPr>
            <p:cNvPr id="42" name="Text 25">
              <a:extLst>
                <a:ext uri="{FF2B5EF4-FFF2-40B4-BE49-F238E27FC236}">
                  <a16:creationId xmlns:a16="http://schemas.microsoft.com/office/drawing/2014/main" id="{B7B9D546-3C2B-F428-3F5F-BF5DE439DBA2}"/>
                </a:ext>
              </a:extLst>
            </p:cNvPr>
            <p:cNvSpPr/>
            <p:nvPr/>
          </p:nvSpPr>
          <p:spPr>
            <a:xfrm>
              <a:off x="5689550" y="4104382"/>
              <a:ext cx="993577" cy="238125"/>
            </a:xfrm>
            <a:prstGeom prst="roundRect">
              <a:avLst>
                <a:gd name="adj" fmla="val 53333"/>
              </a:avLst>
            </a:prstGeom>
            <a:solidFill>
              <a:srgbClr val="FEF3C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3" name="Text 26">
              <a:extLst>
                <a:ext uri="{FF2B5EF4-FFF2-40B4-BE49-F238E27FC236}">
                  <a16:creationId xmlns:a16="http://schemas.microsoft.com/office/drawing/2014/main" id="{F5D3CC6D-410F-6A84-C590-76FF1C42FA5B}"/>
                </a:ext>
              </a:extLst>
            </p:cNvPr>
            <p:cNvSpPr/>
            <p:nvPr/>
          </p:nvSpPr>
          <p:spPr>
            <a:xfrm>
              <a:off x="5791051" y="4142482"/>
              <a:ext cx="806387" cy="161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92400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하위 폴더 지정</a:t>
              </a:r>
              <a:endParaRPr lang="en-US" sz="950" dirty="0"/>
            </a:p>
          </p:txBody>
        </p:sp>
      </p:grpSp>
    </p:spTree>
    <p:extLst>
      <p:ext uri="{BB962C8B-B14F-4D97-AF65-F5344CB8AC3E}">
        <p14:creationId xmlns:p14="http://schemas.microsoft.com/office/powerpoint/2010/main" val="3117309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F73BD-A1EA-C965-A510-4806B7B4A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FE88C8-F25D-210D-2CCC-322491A795A9}"/>
              </a:ext>
            </a:extLst>
          </p:cNvPr>
          <p:cNvSpPr/>
          <p:nvPr/>
        </p:nvSpPr>
        <p:spPr>
          <a:xfrm>
            <a:off x="0" y="0"/>
            <a:ext cx="9144000" cy="1231850"/>
          </a:xfrm>
          <a:prstGeom prst="rect">
            <a:avLst/>
          </a:prstGeom>
          <a:solidFill>
            <a:srgbClr val="1A14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0EE7F6-B2F2-B5CE-0110-F480E73AF203}"/>
              </a:ext>
            </a:extLst>
          </p:cNvPr>
          <p:cNvSpPr/>
          <p:nvPr/>
        </p:nvSpPr>
        <p:spPr>
          <a:xfrm>
            <a:off x="609600" y="304800"/>
            <a:ext cx="808329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사용하나요?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BF76D6-1B1F-043A-7140-3EDAEAA64D46}"/>
              </a:ext>
            </a:extLst>
          </p:cNvPr>
          <p:cNvSpPr/>
          <p:nvPr/>
        </p:nvSpPr>
        <p:spPr>
          <a:xfrm>
            <a:off x="609600" y="72702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PDF 경로를 알려주고 한 마디면 충분합니다</a:t>
            </a:r>
            <a:endParaRPr lang="en-US" sz="120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6D19DC7-48E4-7CF1-488E-AE49CF09DDD3}"/>
              </a:ext>
            </a:extLst>
          </p:cNvPr>
          <p:cNvGrpSpPr/>
          <p:nvPr/>
        </p:nvGrpSpPr>
        <p:grpSpPr>
          <a:xfrm>
            <a:off x="4406363" y="1435769"/>
            <a:ext cx="4572000" cy="2879558"/>
            <a:chOff x="609600" y="2988774"/>
            <a:chExt cx="4572000" cy="1812577"/>
          </a:xfrm>
        </p:grpSpPr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56E39B63-D3AE-88F2-0823-D0315E7CFB0E}"/>
                </a:ext>
              </a:extLst>
            </p:cNvPr>
            <p:cNvSpPr/>
            <p:nvPr/>
          </p:nvSpPr>
          <p:spPr>
            <a:xfrm>
              <a:off x="609600" y="2988774"/>
              <a:ext cx="4572000" cy="1812577"/>
            </a:xfrm>
            <a:prstGeom prst="roundRect">
              <a:avLst>
                <a:gd name="adj" fmla="val 5247"/>
              </a:avLst>
            </a:prstGeom>
            <a:solidFill>
              <a:srgbClr val="1A142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15EFB15C-36F1-8F60-4367-C150CEAB860D}"/>
                </a:ext>
              </a:extLst>
            </p:cNvPr>
            <p:cNvSpPr/>
            <p:nvPr/>
          </p:nvSpPr>
          <p:spPr>
            <a:xfrm>
              <a:off x="633412" y="2988774"/>
              <a:ext cx="0" cy="1812577"/>
            </a:xfrm>
            <a:prstGeom prst="line">
              <a:avLst/>
            </a:prstGeom>
            <a:noFill/>
            <a:ln w="47625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ACE9D3DE-A0BE-5994-9543-F2AA8009A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93650"/>
            <a:ext cx="4240724" cy="2269276"/>
          </a:xfrm>
          <a:prstGeom prst="rect">
            <a:avLst/>
          </a:prstGeom>
        </p:spPr>
      </p:pic>
      <p:sp>
        <p:nvSpPr>
          <p:cNvPr id="17" name="Text 5">
            <a:extLst>
              <a:ext uri="{FF2B5EF4-FFF2-40B4-BE49-F238E27FC236}">
                <a16:creationId xmlns:a16="http://schemas.microsoft.com/office/drawing/2014/main" id="{001908BC-326D-36BB-5EAF-6D31DAE085C9}"/>
              </a:ext>
            </a:extLst>
          </p:cNvPr>
          <p:cNvSpPr/>
          <p:nvPr/>
        </p:nvSpPr>
        <p:spPr>
          <a:xfrm>
            <a:off x="4618103" y="1638151"/>
            <a:ext cx="41485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1050">
                <a:solidFill>
                  <a:schemeClr val="accent2"/>
                </a:solidFill>
                <a:latin typeface="Arial" pitchFamily="34" charset="0"/>
                <a:cs typeface="Arial" pitchFamily="34" charset="-120"/>
              </a:rPr>
              <a:t>옵시디언에 생성된 노트</a:t>
            </a:r>
            <a:endParaRPr lang="en-US" sz="1050" dirty="0">
              <a:solidFill>
                <a:schemeClr val="accent2"/>
              </a:solidFill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DA0A437-8468-910E-34AA-A5778D822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353" y="1668379"/>
            <a:ext cx="3337237" cy="2414337"/>
          </a:xfrm>
          <a:prstGeom prst="rect">
            <a:avLst/>
          </a:prstGeom>
        </p:spPr>
      </p:pic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4FDA7A1-16AF-B539-D6C4-66F616F7B838}"/>
              </a:ext>
            </a:extLst>
          </p:cNvPr>
          <p:cNvCxnSpPr/>
          <p:nvPr/>
        </p:nvCxnSpPr>
        <p:spPr>
          <a:xfrm>
            <a:off x="3914274" y="2959768"/>
            <a:ext cx="34490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5">
            <a:extLst>
              <a:ext uri="{FF2B5EF4-FFF2-40B4-BE49-F238E27FC236}">
                <a16:creationId xmlns:a16="http://schemas.microsoft.com/office/drawing/2014/main" id="{0607C291-F93D-9D5E-F71F-3D8A8B64EE22}"/>
              </a:ext>
            </a:extLst>
          </p:cNvPr>
          <p:cNvSpPr/>
          <p:nvPr/>
        </p:nvSpPr>
        <p:spPr>
          <a:xfrm>
            <a:off x="1353536" y="4140719"/>
            <a:ext cx="1854886" cy="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ko-KR" altLang="en-US" sz="1050">
                <a:solidFill>
                  <a:schemeClr val="accent2"/>
                </a:solidFill>
                <a:latin typeface="Arial" pitchFamily="34" charset="0"/>
                <a:cs typeface="Arial" pitchFamily="34" charset="-120"/>
              </a:rPr>
              <a:t>클로드 터미널</a:t>
            </a:r>
            <a:endParaRPr lang="en-US" sz="105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632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73063"/>
            <a:ext cx="9144000" cy="0"/>
          </a:xfrm>
          <a:prstGeom prst="line">
            <a:avLst/>
          </a:prstGeom>
          <a:noFill/>
          <a:ln w="9525">
            <a:solidFill>
              <a:srgbClr val="2D22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7950" y="304800"/>
            <a:ext cx="234325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생성된 노트 예시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008412" y="466725"/>
            <a:ext cx="57401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Automated Computer Vision-Based CPM A Systematic Review(Buildings2022).md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1380976"/>
            <a:ext cx="5740598" cy="3559373"/>
          </a:xfrm>
          <a:prstGeom prst="roundRect">
            <a:avLst>
              <a:gd name="adj" fmla="val 3568"/>
            </a:avLst>
          </a:prstGeom>
          <a:solidFill>
            <a:srgbClr val="0F0C1A"/>
          </a:solidFill>
          <a:ln w="9525">
            <a:solidFill>
              <a:srgbClr val="2D22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6075" y="1612702"/>
            <a:ext cx="1188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4109" y="1593652"/>
            <a:ext cx="15430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해결하고자 한 핵심 문제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6075" y="1860352"/>
            <a:ext cx="5369635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8A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시공 진척도 모니터링(CPM)이 수동·노동집약적 방식에 전적으로 의존하여 느리고 오류가 많은 문제를, </a:t>
            </a:r>
            <a:r>
              <a:rPr lang="en-US" sz="900" dirty="0">
                <a:solidFill>
                  <a:srgbClr val="B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Vision(CV) 기반 자동화로 해결하려는 연구</a:t>
            </a:r>
            <a:r>
              <a:rPr lang="en-US" sz="900" dirty="0">
                <a:solidFill>
                  <a:srgbClr val="8A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들이 활발하게 진행 중임에도 불구하고 전체 프로세스를 통합적으로 평가한 연구가 없는 것.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6075" y="2509689"/>
            <a:ext cx="5264348" cy="12650"/>
          </a:xfrm>
          <a:prstGeom prst="rect">
            <a:avLst/>
          </a:prstGeom>
          <a:solidFill>
            <a:srgbClr val="2D22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6075" y="2668339"/>
            <a:ext cx="1188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8B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4109" y="2649289"/>
            <a:ext cx="13610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사용한 구체적 방법론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6075" y="2915989"/>
            <a:ext cx="5369635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B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체계적 문헌 리뷰</a:t>
            </a:r>
            <a:r>
              <a:rPr lang="en-US" sz="900" dirty="0">
                <a:solidFill>
                  <a:srgbClr val="8A8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(Scopus + WoS, 2011~2021, 최종 180편). CV 기반 CPM을 4개 서브프로세스로 분해: DAQ / 정보 추출(SfM, CNN, SVM) / 진척도 추정(BIM 레지스트레이션, ICP) / 시각화. 각 기법을 수동/반자동/완전자동 3단계로 분류·평가.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6075" y="3565327"/>
            <a:ext cx="5264348" cy="12650"/>
          </a:xfrm>
          <a:prstGeom prst="rect">
            <a:avLst/>
          </a:prstGeom>
          <a:solidFill>
            <a:srgbClr val="2D22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6075" y="3723977"/>
            <a:ext cx="1188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4109" y="3704927"/>
            <a:ext cx="20098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서론에 인용하기 좋은 핵심 문장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6075" y="3971627"/>
            <a:ext cx="5369635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B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기반 시공 진척도 모니터링은 데이터 수집, 정보 추출, 진척도 추정, 결과 시각화의 네 가지 서브프로세스로 구성되며[ ], 각 서브프로세스 간 연결성 부재와 전체 자동화 수준의 미성숙이 실제 건설 현장 도입의 핵심 장벽으로 지적된다[ ].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77149" y="1380976"/>
            <a:ext cx="2158901" cy="1078260"/>
          </a:xfrm>
          <a:prstGeom prst="roundRect">
            <a:avLst>
              <a:gd name="adj" fmla="val 9423"/>
            </a:avLst>
          </a:prstGeom>
          <a:solidFill>
            <a:srgbClr val="231C3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54850" y="1533376"/>
            <a:ext cx="1839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5A5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정보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54850" y="1736527"/>
            <a:ext cx="1839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 2022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54850" y="1914227"/>
            <a:ext cx="18395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00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Rehman et al.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54850" y="2098328"/>
            <a:ext cx="463451" cy="183952"/>
          </a:xfrm>
          <a:prstGeom prst="roundRect">
            <a:avLst>
              <a:gd name="adj" fmla="val 69040"/>
            </a:avLst>
          </a:prstGeom>
          <a:solidFill>
            <a:srgbClr val="2D1F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43700" y="2123629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B6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MDPI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77149" y="2586186"/>
            <a:ext cx="2158901" cy="1078260"/>
          </a:xfrm>
          <a:prstGeom prst="roundRect">
            <a:avLst>
              <a:gd name="adj" fmla="val 9423"/>
            </a:avLst>
          </a:prstGeom>
          <a:solidFill>
            <a:srgbClr val="231C3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54850" y="2738586"/>
            <a:ext cx="1839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5A5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소요 시간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54850" y="2941737"/>
            <a:ext cx="18395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30초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54850" y="3157538"/>
            <a:ext cx="1839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00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32페이지 논문 전체 분석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77149" y="3791396"/>
            <a:ext cx="2158901" cy="1148953"/>
          </a:xfrm>
          <a:prstGeom prst="roundRect">
            <a:avLst>
              <a:gd name="adj" fmla="val 8843"/>
            </a:avLst>
          </a:prstGeom>
          <a:solidFill>
            <a:srgbClr val="231C3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654850" y="3943796"/>
            <a:ext cx="1839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5A5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위치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54850" y="4146947"/>
            <a:ext cx="18395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Obsidian Vault\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54850" y="4305598"/>
            <a:ext cx="18395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800" dirty="0">
                <a:solidFill>
                  <a:srgbClr val="7C5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CV-Based...(Buildings2022).md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54850" y="4584948"/>
            <a:ext cx="666750" cy="203002"/>
          </a:xfrm>
          <a:prstGeom prst="roundRect">
            <a:avLst>
              <a:gd name="adj" fmla="val 62561"/>
            </a:avLst>
          </a:prstGeom>
          <a:solidFill>
            <a:srgbClr val="1D3D3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743700" y="4610249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8B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생성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667</Words>
  <Application>Microsoft Office PowerPoint</Application>
  <PresentationFormat>화면 슬라이드 쇼(16:9)</PresentationFormat>
  <Paragraphs>108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paper-to-obsidian 스킬 소개</dc:title>
  <dc:subject>PptxGenJS Presentation</dc:subject>
  <dc:creator>lihwa</dc:creator>
  <cp:lastModifiedBy>이 화은</cp:lastModifiedBy>
  <cp:revision>2</cp:revision>
  <dcterms:created xsi:type="dcterms:W3CDTF">2026-06-08T02:36:10Z</dcterms:created>
  <dcterms:modified xsi:type="dcterms:W3CDTF">2026-06-08T02:53:24Z</dcterms:modified>
</cp:coreProperties>
</file>